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Poppins Semi-Bold" panose="00000700000000000000"/>
      <p:bold r:id="rId18"/>
    </p:embeddedFont>
    <p:embeddedFont>
      <p:font typeface="Poppins" panose="00000500000000000000"/>
      <p:regular r:id="rId19"/>
    </p:embeddedFont>
    <p:embeddedFont>
      <p:font typeface="Poppins Bold" panose="00000800000000000000"/>
      <p:bold r:id="rId20"/>
    </p:embeddedFont>
    <p:embeddedFont>
      <p:font typeface="DM Sans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jpe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jpe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467" b="-9467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13785" cy="3084567"/>
            </a:xfrm>
            <a:custGeom>
              <a:avLst/>
              <a:gdLst/>
              <a:ahLst/>
              <a:cxnLst/>
              <a:rect l="l" t="t" r="r" b="b"/>
              <a:pathLst>
                <a:path w="5913785" h="3084567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028700" y="446125"/>
            <a:ext cx="5893549" cy="680083"/>
            <a:chOff x="0" y="0"/>
            <a:chExt cx="1552210" cy="1791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2210" cy="179116"/>
            </a:xfrm>
            <a:custGeom>
              <a:avLst/>
              <a:gdLst/>
              <a:ahLst/>
              <a:cxnLst/>
              <a:rect l="l" t="t" r="r" b="b"/>
              <a:pathLst>
                <a:path w="1552210" h="179116">
                  <a:moveTo>
                    <a:pt x="66995" y="0"/>
                  </a:moveTo>
                  <a:lnTo>
                    <a:pt x="1485216" y="0"/>
                  </a:lnTo>
                  <a:cubicBezTo>
                    <a:pt x="1522216" y="0"/>
                    <a:pt x="1552210" y="29995"/>
                    <a:pt x="1552210" y="66995"/>
                  </a:cubicBezTo>
                  <a:lnTo>
                    <a:pt x="1552210" y="112122"/>
                  </a:lnTo>
                  <a:cubicBezTo>
                    <a:pt x="1552210" y="149122"/>
                    <a:pt x="1522216" y="179116"/>
                    <a:pt x="1485216" y="179116"/>
                  </a:cubicBezTo>
                  <a:lnTo>
                    <a:pt x="66995" y="179116"/>
                  </a:lnTo>
                  <a:cubicBezTo>
                    <a:pt x="29995" y="179116"/>
                    <a:pt x="0" y="149122"/>
                    <a:pt x="0" y="112122"/>
                  </a:cubicBezTo>
                  <a:lnTo>
                    <a:pt x="0" y="66995"/>
                  </a:lnTo>
                  <a:cubicBezTo>
                    <a:pt x="0" y="29995"/>
                    <a:pt x="29995" y="0"/>
                    <a:pt x="66995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52210" cy="217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1198515" y="7583097"/>
            <a:ext cx="1463216" cy="146321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5724431" y="6378203"/>
            <a:ext cx="6361786" cy="2668110"/>
            <a:chOff x="0" y="0"/>
            <a:chExt cx="1675532" cy="7027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75532" cy="702712"/>
            </a:xfrm>
            <a:custGeom>
              <a:avLst/>
              <a:gdLst/>
              <a:ahLst/>
              <a:cxnLst/>
              <a:rect l="l" t="t" r="r" b="b"/>
              <a:pathLst>
                <a:path w="1675532" h="702712">
                  <a:moveTo>
                    <a:pt x="0" y="0"/>
                  </a:moveTo>
                  <a:lnTo>
                    <a:pt x="1675532" y="0"/>
                  </a:lnTo>
                  <a:lnTo>
                    <a:pt x="1675532" y="702712"/>
                  </a:lnTo>
                  <a:lnTo>
                    <a:pt x="0" y="702712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75532" cy="740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4133124" y="4411892"/>
            <a:ext cx="1463216" cy="146321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10466907" y="3110546"/>
            <a:ext cx="1463216" cy="146321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610563" y="3644123"/>
            <a:ext cx="13066873" cy="208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9000" b="1" spc="-485">
                <a:solidFill>
                  <a:srgbClr val="1C2120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PROIECT</a:t>
            </a:r>
            <a:endParaRPr lang="en-US" sz="9000" b="1" spc="-485">
              <a:solidFill>
                <a:srgbClr val="1C2120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  <a:p>
            <a:pPr algn="ctr">
              <a:lnSpc>
                <a:spcPts val="7560"/>
              </a:lnSpc>
            </a:pPr>
            <a:r>
              <a:rPr lang="en-US" sz="9000" b="1" spc="-485">
                <a:solidFill>
                  <a:srgbClr val="1C2120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 PRACTICĂ DE VARĂ</a:t>
            </a:r>
            <a:endParaRPr lang="en-US" sz="9000" b="1" spc="-485">
              <a:solidFill>
                <a:srgbClr val="1C2120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596341" y="6611320"/>
            <a:ext cx="6617965" cy="264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FILIP LUCIAN GABRIEL</a:t>
            </a:r>
            <a:endParaRPr lang="en-US" sz="3445" spc="-68">
              <a:solidFill>
                <a:srgbClr val="1C212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GOLDIȘ RĂZVAN</a:t>
            </a:r>
            <a:endParaRPr lang="en-US" sz="3445" spc="-68">
              <a:solidFill>
                <a:srgbClr val="1C212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MITA ALEXANDRA</a:t>
            </a:r>
            <a:endParaRPr lang="en-US" sz="3445" spc="-68">
              <a:solidFill>
                <a:srgbClr val="1C212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PICHLER GABRIEL</a:t>
            </a:r>
            <a:endParaRPr lang="en-US" sz="3445" spc="-68">
              <a:solidFill>
                <a:srgbClr val="1C212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VOLOSCIUC DAVID</a:t>
            </a:r>
            <a:endParaRPr lang="en-US" sz="3445" spc="-68">
              <a:solidFill>
                <a:srgbClr val="1C212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3445"/>
              </a:lnSpc>
            </a:pPr>
          </a:p>
        </p:txBody>
      </p:sp>
      <p:sp>
        <p:nvSpPr>
          <p:cNvPr id="23" name="TextBox 23"/>
          <p:cNvSpPr txBox="1"/>
          <p:nvPr/>
        </p:nvSpPr>
        <p:spPr>
          <a:xfrm>
            <a:off x="1428090" y="604815"/>
            <a:ext cx="5094769" cy="362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415">
                <a:solidFill>
                  <a:srgbClr val="1C212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Coordonator: Arthur Hozlinger</a:t>
            </a:r>
            <a:endParaRPr lang="en-US" sz="2415">
              <a:solidFill>
                <a:srgbClr val="1C212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16292441" y="1490331"/>
            <a:ext cx="1463216" cy="1463216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15083668" y="0"/>
            <a:ext cx="2320606" cy="2221940"/>
            <a:chOff x="0" y="0"/>
            <a:chExt cx="611188" cy="58520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11188" cy="585202"/>
            </a:xfrm>
            <a:custGeom>
              <a:avLst/>
              <a:gdLst/>
              <a:ahLst/>
              <a:cxnLst/>
              <a:rect l="l" t="t" r="r" b="b"/>
              <a:pathLst>
                <a:path w="611188" h="585202">
                  <a:moveTo>
                    <a:pt x="170144" y="0"/>
                  </a:moveTo>
                  <a:lnTo>
                    <a:pt x="441044" y="0"/>
                  </a:lnTo>
                  <a:cubicBezTo>
                    <a:pt x="486169" y="0"/>
                    <a:pt x="529446" y="17926"/>
                    <a:pt x="561354" y="49834"/>
                  </a:cubicBezTo>
                  <a:cubicBezTo>
                    <a:pt x="593262" y="81742"/>
                    <a:pt x="611188" y="125019"/>
                    <a:pt x="611188" y="170144"/>
                  </a:cubicBezTo>
                  <a:lnTo>
                    <a:pt x="611188" y="415058"/>
                  </a:lnTo>
                  <a:cubicBezTo>
                    <a:pt x="611188" y="460183"/>
                    <a:pt x="593262" y="503460"/>
                    <a:pt x="561354" y="535368"/>
                  </a:cubicBezTo>
                  <a:cubicBezTo>
                    <a:pt x="529446" y="567276"/>
                    <a:pt x="486169" y="585202"/>
                    <a:pt x="441044" y="585202"/>
                  </a:cubicBezTo>
                  <a:lnTo>
                    <a:pt x="170144" y="585202"/>
                  </a:lnTo>
                  <a:cubicBezTo>
                    <a:pt x="125019" y="585202"/>
                    <a:pt x="81742" y="567276"/>
                    <a:pt x="49834" y="535368"/>
                  </a:cubicBezTo>
                  <a:cubicBezTo>
                    <a:pt x="17926" y="503460"/>
                    <a:pt x="0" y="460183"/>
                    <a:pt x="0" y="415058"/>
                  </a:cubicBezTo>
                  <a:lnTo>
                    <a:pt x="0" y="170144"/>
                  </a:lnTo>
                  <a:cubicBezTo>
                    <a:pt x="0" y="125019"/>
                    <a:pt x="17926" y="81742"/>
                    <a:pt x="49834" y="49834"/>
                  </a:cubicBezTo>
                  <a:cubicBezTo>
                    <a:pt x="81742" y="17926"/>
                    <a:pt x="125019" y="0"/>
                    <a:pt x="170144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611188" cy="623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0" name="Freeform 30"/>
          <p:cNvSpPr/>
          <p:nvPr/>
        </p:nvSpPr>
        <p:spPr>
          <a:xfrm>
            <a:off x="15291840" y="161933"/>
            <a:ext cx="1843786" cy="1928550"/>
          </a:xfrm>
          <a:custGeom>
            <a:avLst/>
            <a:gdLst/>
            <a:ahLst/>
            <a:cxnLst/>
            <a:rect l="l" t="t" r="r" b="b"/>
            <a:pathLst>
              <a:path w="1843786" h="1928550">
                <a:moveTo>
                  <a:pt x="0" y="0"/>
                </a:moveTo>
                <a:lnTo>
                  <a:pt x="1843786" y="0"/>
                </a:lnTo>
                <a:lnTo>
                  <a:pt x="1843786" y="1928550"/>
                </a:lnTo>
                <a:lnTo>
                  <a:pt x="0" y="1928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67" r="-7666" b="-1467"/>
            </a:stretch>
          </a:blipFill>
        </p:spPr>
      </p:sp>
      <p:grpSp>
        <p:nvGrpSpPr>
          <p:cNvPr id="31" name="Group 31"/>
          <p:cNvGrpSpPr/>
          <p:nvPr/>
        </p:nvGrpSpPr>
        <p:grpSpPr>
          <a:xfrm rot="0">
            <a:off x="-434516" y="9536140"/>
            <a:ext cx="1463216" cy="1463216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4" name="Group 34"/>
          <p:cNvGrpSpPr/>
          <p:nvPr/>
        </p:nvGrpSpPr>
        <p:grpSpPr>
          <a:xfrm rot="0">
            <a:off x="696482" y="9854485"/>
            <a:ext cx="1463216" cy="1463216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7" name="Group 37"/>
          <p:cNvGrpSpPr/>
          <p:nvPr/>
        </p:nvGrpSpPr>
        <p:grpSpPr>
          <a:xfrm rot="0">
            <a:off x="-1166125" y="8526692"/>
            <a:ext cx="1463216" cy="1463216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0" name="Group 40"/>
          <p:cNvGrpSpPr/>
          <p:nvPr/>
        </p:nvGrpSpPr>
        <p:grpSpPr>
          <a:xfrm rot="0">
            <a:off x="-35127" y="9046313"/>
            <a:ext cx="1463216" cy="1463216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3" name="Group 43"/>
          <p:cNvGrpSpPr/>
          <p:nvPr/>
        </p:nvGrpSpPr>
        <p:grpSpPr>
          <a:xfrm rot="0">
            <a:off x="17755657" y="4411892"/>
            <a:ext cx="1463216" cy="1463216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6" name="Group 46"/>
          <p:cNvGrpSpPr/>
          <p:nvPr/>
        </p:nvGrpSpPr>
        <p:grpSpPr>
          <a:xfrm rot="0">
            <a:off x="17404274" y="9555392"/>
            <a:ext cx="1463216" cy="1463216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9" name="Group 49"/>
          <p:cNvGrpSpPr/>
          <p:nvPr/>
        </p:nvGrpSpPr>
        <p:grpSpPr>
          <a:xfrm rot="0">
            <a:off x="7970334" y="379362"/>
            <a:ext cx="1463216" cy="1463216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2" name="Group 52"/>
          <p:cNvGrpSpPr/>
          <p:nvPr/>
        </p:nvGrpSpPr>
        <p:grpSpPr>
          <a:xfrm rot="0">
            <a:off x="649243" y="1647330"/>
            <a:ext cx="1463216" cy="1463216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5" name="Group 55"/>
          <p:cNvGrpSpPr/>
          <p:nvPr/>
        </p:nvGrpSpPr>
        <p:grpSpPr>
          <a:xfrm rot="0">
            <a:off x="1878955" y="6255878"/>
            <a:ext cx="1463216" cy="1463216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8" name="Group 58"/>
          <p:cNvGrpSpPr/>
          <p:nvPr/>
        </p:nvGrpSpPr>
        <p:grpSpPr>
          <a:xfrm rot="0">
            <a:off x="4261214" y="9854485"/>
            <a:ext cx="1463216" cy="1463216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1" name="Group 61"/>
          <p:cNvGrpSpPr/>
          <p:nvPr/>
        </p:nvGrpSpPr>
        <p:grpSpPr>
          <a:xfrm rot="0">
            <a:off x="15482124" y="7343645"/>
            <a:ext cx="1463216" cy="1463216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333378" y="0"/>
            <a:ext cx="9233893" cy="10601584"/>
            <a:chOff x="0" y="0"/>
            <a:chExt cx="2431972" cy="27921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1972" cy="2792187"/>
            </a:xfrm>
            <a:custGeom>
              <a:avLst/>
              <a:gdLst/>
              <a:ahLst/>
              <a:cxnLst/>
              <a:rect l="l" t="t" r="r" b="b"/>
              <a:pathLst>
                <a:path w="2431972" h="2792187">
                  <a:moveTo>
                    <a:pt x="0" y="0"/>
                  </a:moveTo>
                  <a:lnTo>
                    <a:pt x="2431972" y="0"/>
                  </a:lnTo>
                  <a:lnTo>
                    <a:pt x="2431972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1972" cy="2830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1095700" y="7676842"/>
            <a:ext cx="4005995" cy="2253372"/>
          </a:xfrm>
          <a:custGeom>
            <a:avLst/>
            <a:gdLst/>
            <a:ahLst/>
            <a:cxnLst/>
            <a:rect l="l" t="t" r="r" b="b"/>
            <a:pathLst>
              <a:path w="4005995" h="2253372">
                <a:moveTo>
                  <a:pt x="0" y="0"/>
                </a:moveTo>
                <a:lnTo>
                  <a:pt x="4005995" y="0"/>
                </a:lnTo>
                <a:lnTo>
                  <a:pt x="4005995" y="2253372"/>
                </a:lnTo>
                <a:lnTo>
                  <a:pt x="0" y="225337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53367" y="5143500"/>
            <a:ext cx="2090661" cy="2090661"/>
          </a:xfrm>
          <a:custGeom>
            <a:avLst/>
            <a:gdLst/>
            <a:ahLst/>
            <a:cxnLst/>
            <a:rect l="l" t="t" r="r" b="b"/>
            <a:pathLst>
              <a:path w="2090661" h="2090661">
                <a:moveTo>
                  <a:pt x="0" y="0"/>
                </a:moveTo>
                <a:lnTo>
                  <a:pt x="2090661" y="0"/>
                </a:lnTo>
                <a:lnTo>
                  <a:pt x="2090661" y="2090661"/>
                </a:lnTo>
                <a:lnTo>
                  <a:pt x="0" y="20906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98291" y="712543"/>
            <a:ext cx="8011990" cy="94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95"/>
              </a:lnSpc>
            </a:pPr>
            <a:r>
              <a:rPr lang="en-US" sz="680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Cuprins </a:t>
            </a:r>
            <a:endParaRPr lang="en-US" sz="680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091488" y="588718"/>
            <a:ext cx="7717673" cy="501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GNS3: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-Topologia în GNS3 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VLSM;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Configurare Vlan;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Configurare IP;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Rutare statica/dinamica;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Configurare SSH;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Configurare router ca DHCP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375"/>
              </a:lnSpc>
            </a:pPr>
          </a:p>
          <a:p>
            <a:pPr algn="l">
              <a:lnSpc>
                <a:spcPts val="3375"/>
              </a:lnSpc>
            </a:pPr>
          </a:p>
          <a:p>
            <a:pPr algn="l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3375"/>
              </a:lnSpc>
              <a:spcBef>
                <a:spcPct val="0"/>
              </a:spcBef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6869153" y="7196061"/>
            <a:ext cx="8497740" cy="250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Linux: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-Managementul utilizatorilor si grupurilor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Script bash pentru automatizare;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Arhivare date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Procesare si filtrare a datelor 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>
              <a:lnSpc>
                <a:spcPts val="3375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6869153" y="4559766"/>
            <a:ext cx="8497740" cy="292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Phyton: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-Configuratia de baza a echipamentelor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Rutare si conectivitate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Securitate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Managment si monitorizare 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75"/>
              </a:lnSpc>
            </a:pPr>
          </a:p>
          <a:p>
            <a:pPr marL="0" lvl="0" indent="0" algn="just">
              <a:lnSpc>
                <a:spcPts val="3375"/>
              </a:lnSpc>
              <a:spcBef>
                <a:spcPct val="0"/>
              </a:spcBef>
            </a:pPr>
            <a:r>
              <a:rPr lang="en-US" sz="2500" spc="1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lang="en-US" sz="2500" spc="14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6165679" y="4154799"/>
            <a:ext cx="9569291" cy="204942"/>
            <a:chOff x="0" y="0"/>
            <a:chExt cx="3203399" cy="686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03399" cy="68606"/>
            </a:xfrm>
            <a:custGeom>
              <a:avLst/>
              <a:gdLst/>
              <a:ahLst/>
              <a:cxnLst/>
              <a:rect l="l" t="t" r="r" b="b"/>
              <a:pathLst>
                <a:path w="3203399" h="68606">
                  <a:moveTo>
                    <a:pt x="34303" y="0"/>
                  </a:moveTo>
                  <a:lnTo>
                    <a:pt x="3169096" y="0"/>
                  </a:lnTo>
                  <a:cubicBezTo>
                    <a:pt x="3188041" y="0"/>
                    <a:pt x="3203399" y="15358"/>
                    <a:pt x="3203399" y="34303"/>
                  </a:cubicBezTo>
                  <a:lnTo>
                    <a:pt x="3203399" y="34303"/>
                  </a:lnTo>
                  <a:cubicBezTo>
                    <a:pt x="3203399" y="43401"/>
                    <a:pt x="3199785" y="52126"/>
                    <a:pt x="3193352" y="58559"/>
                  </a:cubicBezTo>
                  <a:cubicBezTo>
                    <a:pt x="3186918" y="64992"/>
                    <a:pt x="3178193" y="68606"/>
                    <a:pt x="3169096" y="68606"/>
                  </a:cubicBezTo>
                  <a:lnTo>
                    <a:pt x="34303" y="68606"/>
                  </a:lnTo>
                  <a:cubicBezTo>
                    <a:pt x="15358" y="68606"/>
                    <a:pt x="0" y="53248"/>
                    <a:pt x="0" y="34303"/>
                  </a:cubicBezTo>
                  <a:lnTo>
                    <a:pt x="0" y="34303"/>
                  </a:lnTo>
                  <a:cubicBezTo>
                    <a:pt x="0" y="15358"/>
                    <a:pt x="15358" y="0"/>
                    <a:pt x="3430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85725"/>
              <a:ext cx="3203399" cy="68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6143722" y="6894717"/>
            <a:ext cx="9569291" cy="204942"/>
            <a:chOff x="0" y="0"/>
            <a:chExt cx="3203399" cy="686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03399" cy="68606"/>
            </a:xfrm>
            <a:custGeom>
              <a:avLst/>
              <a:gdLst/>
              <a:ahLst/>
              <a:cxnLst/>
              <a:rect l="l" t="t" r="r" b="b"/>
              <a:pathLst>
                <a:path w="3203399" h="68606">
                  <a:moveTo>
                    <a:pt x="34303" y="0"/>
                  </a:moveTo>
                  <a:lnTo>
                    <a:pt x="3169096" y="0"/>
                  </a:lnTo>
                  <a:cubicBezTo>
                    <a:pt x="3188041" y="0"/>
                    <a:pt x="3203399" y="15358"/>
                    <a:pt x="3203399" y="34303"/>
                  </a:cubicBezTo>
                  <a:lnTo>
                    <a:pt x="3203399" y="34303"/>
                  </a:lnTo>
                  <a:cubicBezTo>
                    <a:pt x="3203399" y="43401"/>
                    <a:pt x="3199785" y="52126"/>
                    <a:pt x="3193352" y="58559"/>
                  </a:cubicBezTo>
                  <a:cubicBezTo>
                    <a:pt x="3186918" y="64992"/>
                    <a:pt x="3178193" y="68606"/>
                    <a:pt x="3169096" y="68606"/>
                  </a:cubicBezTo>
                  <a:lnTo>
                    <a:pt x="34303" y="68606"/>
                  </a:lnTo>
                  <a:cubicBezTo>
                    <a:pt x="15358" y="68606"/>
                    <a:pt x="0" y="53248"/>
                    <a:pt x="0" y="34303"/>
                  </a:cubicBezTo>
                  <a:lnTo>
                    <a:pt x="0" y="34303"/>
                  </a:lnTo>
                  <a:cubicBezTo>
                    <a:pt x="0" y="15358"/>
                    <a:pt x="15358" y="0"/>
                    <a:pt x="3430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85725"/>
              <a:ext cx="3203399" cy="68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333378" y="183751"/>
            <a:ext cx="9569291" cy="204942"/>
            <a:chOff x="0" y="0"/>
            <a:chExt cx="3203399" cy="6860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03399" cy="68606"/>
            </a:xfrm>
            <a:custGeom>
              <a:avLst/>
              <a:gdLst/>
              <a:ahLst/>
              <a:cxnLst/>
              <a:rect l="l" t="t" r="r" b="b"/>
              <a:pathLst>
                <a:path w="3203399" h="68606">
                  <a:moveTo>
                    <a:pt x="34303" y="0"/>
                  </a:moveTo>
                  <a:lnTo>
                    <a:pt x="3169096" y="0"/>
                  </a:lnTo>
                  <a:cubicBezTo>
                    <a:pt x="3188041" y="0"/>
                    <a:pt x="3203399" y="15358"/>
                    <a:pt x="3203399" y="34303"/>
                  </a:cubicBezTo>
                  <a:lnTo>
                    <a:pt x="3203399" y="34303"/>
                  </a:lnTo>
                  <a:cubicBezTo>
                    <a:pt x="3203399" y="43401"/>
                    <a:pt x="3199785" y="52126"/>
                    <a:pt x="3193352" y="58559"/>
                  </a:cubicBezTo>
                  <a:cubicBezTo>
                    <a:pt x="3186918" y="64992"/>
                    <a:pt x="3178193" y="68606"/>
                    <a:pt x="3169096" y="68606"/>
                  </a:cubicBezTo>
                  <a:lnTo>
                    <a:pt x="34303" y="68606"/>
                  </a:lnTo>
                  <a:cubicBezTo>
                    <a:pt x="15358" y="68606"/>
                    <a:pt x="0" y="53248"/>
                    <a:pt x="0" y="34303"/>
                  </a:cubicBezTo>
                  <a:lnTo>
                    <a:pt x="0" y="34303"/>
                  </a:lnTo>
                  <a:cubicBezTo>
                    <a:pt x="0" y="15358"/>
                    <a:pt x="15358" y="0"/>
                    <a:pt x="3430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85725"/>
              <a:ext cx="3203399" cy="68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6143722" y="9827743"/>
            <a:ext cx="9569291" cy="204942"/>
            <a:chOff x="0" y="0"/>
            <a:chExt cx="3203399" cy="6860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03399" cy="68606"/>
            </a:xfrm>
            <a:custGeom>
              <a:avLst/>
              <a:gdLst/>
              <a:ahLst/>
              <a:cxnLst/>
              <a:rect l="l" t="t" r="r" b="b"/>
              <a:pathLst>
                <a:path w="3203399" h="68606">
                  <a:moveTo>
                    <a:pt x="34303" y="0"/>
                  </a:moveTo>
                  <a:lnTo>
                    <a:pt x="3169096" y="0"/>
                  </a:lnTo>
                  <a:cubicBezTo>
                    <a:pt x="3188041" y="0"/>
                    <a:pt x="3203399" y="15358"/>
                    <a:pt x="3203399" y="34303"/>
                  </a:cubicBezTo>
                  <a:lnTo>
                    <a:pt x="3203399" y="34303"/>
                  </a:lnTo>
                  <a:cubicBezTo>
                    <a:pt x="3203399" y="43401"/>
                    <a:pt x="3199785" y="52126"/>
                    <a:pt x="3193352" y="58559"/>
                  </a:cubicBezTo>
                  <a:cubicBezTo>
                    <a:pt x="3186918" y="64992"/>
                    <a:pt x="3178193" y="68606"/>
                    <a:pt x="3169096" y="68606"/>
                  </a:cubicBezTo>
                  <a:lnTo>
                    <a:pt x="34303" y="68606"/>
                  </a:lnTo>
                  <a:cubicBezTo>
                    <a:pt x="15358" y="68606"/>
                    <a:pt x="0" y="53248"/>
                    <a:pt x="0" y="34303"/>
                  </a:cubicBezTo>
                  <a:lnTo>
                    <a:pt x="0" y="34303"/>
                  </a:lnTo>
                  <a:cubicBezTo>
                    <a:pt x="0" y="15358"/>
                    <a:pt x="15358" y="0"/>
                    <a:pt x="3430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85725"/>
              <a:ext cx="3203399" cy="686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id="23" name="Freeform 23"/>
          <p:cNvSpPr/>
          <p:nvPr/>
        </p:nvSpPr>
        <p:spPr>
          <a:xfrm>
            <a:off x="1682530" y="1654120"/>
            <a:ext cx="2832336" cy="3228570"/>
          </a:xfrm>
          <a:custGeom>
            <a:avLst/>
            <a:gdLst/>
            <a:ahLst/>
            <a:cxnLst/>
            <a:rect l="l" t="t" r="r" b="b"/>
            <a:pathLst>
              <a:path w="2832336" h="3228570">
                <a:moveTo>
                  <a:pt x="0" y="0"/>
                </a:moveTo>
                <a:lnTo>
                  <a:pt x="2832336" y="0"/>
                </a:lnTo>
                <a:lnTo>
                  <a:pt x="2832336" y="3228570"/>
                </a:lnTo>
                <a:lnTo>
                  <a:pt x="0" y="322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1238999" y="1745372"/>
            <a:ext cx="3708981" cy="612256"/>
            <a:chOff x="0" y="0"/>
            <a:chExt cx="1241612" cy="204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1612" cy="204958"/>
            </a:xfrm>
            <a:custGeom>
              <a:avLst/>
              <a:gdLst/>
              <a:ahLst/>
              <a:cxnLst/>
              <a:rect l="l" t="t" r="r" b="b"/>
              <a:pathLst>
                <a:path w="1241612" h="204958">
                  <a:moveTo>
                    <a:pt x="102479" y="0"/>
                  </a:moveTo>
                  <a:lnTo>
                    <a:pt x="1139133" y="0"/>
                  </a:lnTo>
                  <a:cubicBezTo>
                    <a:pt x="1195730" y="0"/>
                    <a:pt x="1241612" y="45881"/>
                    <a:pt x="1241612" y="102479"/>
                  </a:cubicBezTo>
                  <a:lnTo>
                    <a:pt x="1241612" y="102479"/>
                  </a:lnTo>
                  <a:cubicBezTo>
                    <a:pt x="1241612" y="159076"/>
                    <a:pt x="1195730" y="204958"/>
                    <a:pt x="1139133" y="204958"/>
                  </a:cubicBezTo>
                  <a:lnTo>
                    <a:pt x="102479" y="204958"/>
                  </a:lnTo>
                  <a:cubicBezTo>
                    <a:pt x="45881" y="204958"/>
                    <a:pt x="0" y="159076"/>
                    <a:pt x="0" y="102479"/>
                  </a:cubicBezTo>
                  <a:lnTo>
                    <a:pt x="0" y="102479"/>
                  </a:lnTo>
                  <a:cubicBezTo>
                    <a:pt x="0" y="45881"/>
                    <a:pt x="45881" y="0"/>
                    <a:pt x="10247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1241612" cy="11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2231426" y="3981769"/>
            <a:ext cx="3708981" cy="612256"/>
            <a:chOff x="0" y="0"/>
            <a:chExt cx="1241612" cy="2049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1612" cy="204958"/>
            </a:xfrm>
            <a:custGeom>
              <a:avLst/>
              <a:gdLst/>
              <a:ahLst/>
              <a:cxnLst/>
              <a:rect l="l" t="t" r="r" b="b"/>
              <a:pathLst>
                <a:path w="1241612" h="204958">
                  <a:moveTo>
                    <a:pt x="102479" y="0"/>
                  </a:moveTo>
                  <a:lnTo>
                    <a:pt x="1139133" y="0"/>
                  </a:lnTo>
                  <a:cubicBezTo>
                    <a:pt x="1195730" y="0"/>
                    <a:pt x="1241612" y="45881"/>
                    <a:pt x="1241612" y="102479"/>
                  </a:cubicBezTo>
                  <a:lnTo>
                    <a:pt x="1241612" y="102479"/>
                  </a:lnTo>
                  <a:cubicBezTo>
                    <a:pt x="1241612" y="159076"/>
                    <a:pt x="1195730" y="204958"/>
                    <a:pt x="1139133" y="204958"/>
                  </a:cubicBezTo>
                  <a:lnTo>
                    <a:pt x="102479" y="204958"/>
                  </a:lnTo>
                  <a:cubicBezTo>
                    <a:pt x="45881" y="204958"/>
                    <a:pt x="0" y="159076"/>
                    <a:pt x="0" y="102479"/>
                  </a:cubicBezTo>
                  <a:lnTo>
                    <a:pt x="0" y="102479"/>
                  </a:lnTo>
                  <a:cubicBezTo>
                    <a:pt x="0" y="45881"/>
                    <a:pt x="45881" y="0"/>
                    <a:pt x="10247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5725"/>
              <a:ext cx="1241612" cy="11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2709750" y="2051500"/>
            <a:ext cx="12590559" cy="8235500"/>
          </a:xfrm>
          <a:custGeom>
            <a:avLst/>
            <a:gdLst/>
            <a:ahLst/>
            <a:cxnLst/>
            <a:rect l="l" t="t" r="r" b="b"/>
            <a:pathLst>
              <a:path w="12590559" h="8235500">
                <a:moveTo>
                  <a:pt x="0" y="0"/>
                </a:moveTo>
                <a:lnTo>
                  <a:pt x="12590558" y="0"/>
                </a:lnTo>
                <a:lnTo>
                  <a:pt x="12590558" y="8235500"/>
                </a:lnTo>
                <a:lnTo>
                  <a:pt x="0" y="82355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824"/>
            </a:stretch>
          </a:blipFill>
        </p:spPr>
      </p:sp>
      <p:grpSp>
        <p:nvGrpSpPr>
          <p:cNvPr id="9" name="Group 9"/>
          <p:cNvGrpSpPr/>
          <p:nvPr/>
        </p:nvGrpSpPr>
        <p:grpSpPr>
          <a:xfrm rot="0">
            <a:off x="12066008" y="7391189"/>
            <a:ext cx="3708981" cy="612256"/>
            <a:chOff x="0" y="0"/>
            <a:chExt cx="1241612" cy="2049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41612" cy="204958"/>
            </a:xfrm>
            <a:custGeom>
              <a:avLst/>
              <a:gdLst/>
              <a:ahLst/>
              <a:cxnLst/>
              <a:rect l="l" t="t" r="r" b="b"/>
              <a:pathLst>
                <a:path w="1241612" h="204958">
                  <a:moveTo>
                    <a:pt x="102479" y="0"/>
                  </a:moveTo>
                  <a:lnTo>
                    <a:pt x="1139133" y="0"/>
                  </a:lnTo>
                  <a:cubicBezTo>
                    <a:pt x="1195730" y="0"/>
                    <a:pt x="1241612" y="45881"/>
                    <a:pt x="1241612" y="102479"/>
                  </a:cubicBezTo>
                  <a:lnTo>
                    <a:pt x="1241612" y="102479"/>
                  </a:lnTo>
                  <a:cubicBezTo>
                    <a:pt x="1241612" y="159076"/>
                    <a:pt x="1195730" y="204958"/>
                    <a:pt x="1139133" y="204958"/>
                  </a:cubicBezTo>
                  <a:lnTo>
                    <a:pt x="102479" y="204958"/>
                  </a:lnTo>
                  <a:cubicBezTo>
                    <a:pt x="45881" y="204958"/>
                    <a:pt x="0" y="159076"/>
                    <a:pt x="0" y="102479"/>
                  </a:cubicBezTo>
                  <a:lnTo>
                    <a:pt x="0" y="102479"/>
                  </a:lnTo>
                  <a:cubicBezTo>
                    <a:pt x="0" y="45881"/>
                    <a:pt x="45881" y="0"/>
                    <a:pt x="10247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85725"/>
              <a:ext cx="1241612" cy="11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2488698" y="8111409"/>
            <a:ext cx="3708981" cy="612256"/>
            <a:chOff x="0" y="0"/>
            <a:chExt cx="1241612" cy="2049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41612" cy="204958"/>
            </a:xfrm>
            <a:custGeom>
              <a:avLst/>
              <a:gdLst/>
              <a:ahLst/>
              <a:cxnLst/>
              <a:rect l="l" t="t" r="r" b="b"/>
              <a:pathLst>
                <a:path w="1241612" h="204958">
                  <a:moveTo>
                    <a:pt x="102479" y="0"/>
                  </a:moveTo>
                  <a:lnTo>
                    <a:pt x="1139133" y="0"/>
                  </a:lnTo>
                  <a:cubicBezTo>
                    <a:pt x="1195730" y="0"/>
                    <a:pt x="1241612" y="45881"/>
                    <a:pt x="1241612" y="102479"/>
                  </a:cubicBezTo>
                  <a:lnTo>
                    <a:pt x="1241612" y="102479"/>
                  </a:lnTo>
                  <a:cubicBezTo>
                    <a:pt x="1241612" y="159076"/>
                    <a:pt x="1195730" y="204958"/>
                    <a:pt x="1139133" y="204958"/>
                  </a:cubicBezTo>
                  <a:lnTo>
                    <a:pt x="102479" y="204958"/>
                  </a:lnTo>
                  <a:cubicBezTo>
                    <a:pt x="45881" y="204958"/>
                    <a:pt x="0" y="159076"/>
                    <a:pt x="0" y="102479"/>
                  </a:cubicBezTo>
                  <a:lnTo>
                    <a:pt x="0" y="102479"/>
                  </a:lnTo>
                  <a:cubicBezTo>
                    <a:pt x="0" y="45881"/>
                    <a:pt x="45881" y="0"/>
                    <a:pt x="10247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85725"/>
              <a:ext cx="1241612" cy="11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3598374" y="2792296"/>
            <a:ext cx="10813309" cy="5931369"/>
          </a:xfrm>
          <a:custGeom>
            <a:avLst/>
            <a:gdLst/>
            <a:ahLst/>
            <a:cxnLst/>
            <a:rect l="l" t="t" r="r" b="b"/>
            <a:pathLst>
              <a:path w="10813309" h="5931369">
                <a:moveTo>
                  <a:pt x="0" y="0"/>
                </a:moveTo>
                <a:lnTo>
                  <a:pt x="10813309" y="0"/>
                </a:lnTo>
                <a:lnTo>
                  <a:pt x="10813309" y="5931368"/>
                </a:lnTo>
                <a:lnTo>
                  <a:pt x="0" y="5931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16" r="-2616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70494" y="618920"/>
            <a:ext cx="7425121" cy="143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30"/>
              </a:lnSpc>
            </a:pPr>
            <a:r>
              <a:rPr lang="en-US" sz="1024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Topologie</a:t>
            </a:r>
            <a:endParaRPr lang="en-US" sz="1024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18048" y="0"/>
            <a:ext cx="7525361" cy="3734670"/>
          </a:xfrm>
          <a:custGeom>
            <a:avLst/>
            <a:gdLst/>
            <a:ahLst/>
            <a:cxnLst/>
            <a:rect l="l" t="t" r="r" b="b"/>
            <a:pathLst>
              <a:path w="7525361" h="3734670">
                <a:moveTo>
                  <a:pt x="0" y="0"/>
                </a:moveTo>
                <a:lnTo>
                  <a:pt x="7525361" y="0"/>
                </a:lnTo>
                <a:lnTo>
                  <a:pt x="7525361" y="3734670"/>
                </a:lnTo>
                <a:lnTo>
                  <a:pt x="0" y="373467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76891" y="1962585"/>
            <a:ext cx="8756413" cy="95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5"/>
              </a:lnSpc>
            </a:pPr>
            <a:r>
              <a:rPr lang="en-US" sz="690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Primii pași în  Gns3</a:t>
            </a:r>
            <a:endParaRPr lang="en-US" sz="690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8246463" y="2686003"/>
            <a:ext cx="1463216" cy="146321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76891" y="4111120"/>
            <a:ext cx="13328509" cy="4705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80"/>
              </a:lnSpc>
            </a:pPr>
            <a:r>
              <a:rPr lang="en-US" sz="2505" spc="1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VLSM:este o tehnică avansată de partitionare a spațiului de adrese IP  care permite alocarea de subrețele cu măști de lungime variabilă în cadrul aceluiași bloc de rețea. Am sub-rețelizat rețeaua inițială pentru a aloca adrese IP în mod eficient, prevenind risipa de adrese și asigurând scalabilitatea.</a:t>
            </a:r>
            <a:endParaRPr lang="en-US" sz="2505" spc="1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3380"/>
              </a:lnSpc>
            </a:pPr>
          </a:p>
          <a:p>
            <a:pPr marL="0" lvl="0" indent="0" algn="just">
              <a:lnSpc>
                <a:spcPts val="3380"/>
              </a:lnSpc>
              <a:spcBef>
                <a:spcPct val="0"/>
              </a:spcBef>
            </a:pPr>
            <a:r>
              <a:rPr lang="en-US" sz="2505" spc="1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Configurare VLAN si IP: Am configurat VLAN-uri pe toate switch-urile pentru a segmenta logic rețeaua. Acest lucru îmbunătățește securitatea și performanța rețelei prin izolarea traficului. Fiecare VLAN are alocată o sub-rețea de adrese IP, conform planului de adresare pe care l-am conceput.</a:t>
            </a:r>
            <a:endParaRPr lang="en-US" sz="2505" spc="1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>
              <a:lnSpc>
                <a:spcPts val="3380"/>
              </a:lnSpc>
              <a:spcBef>
                <a:spcPct val="0"/>
              </a:spcBef>
            </a:pPr>
          </a:p>
          <a:p>
            <a:pPr marL="0" lvl="0" indent="0" algn="just">
              <a:lnSpc>
                <a:spcPts val="3380"/>
              </a:lnSpc>
              <a:spcBef>
                <a:spcPct val="0"/>
              </a:spcBef>
            </a:pPr>
          </a:p>
        </p:txBody>
      </p:sp>
      <p:grpSp>
        <p:nvGrpSpPr>
          <p:cNvPr id="8" name="Group 8"/>
          <p:cNvGrpSpPr/>
          <p:nvPr/>
        </p:nvGrpSpPr>
        <p:grpSpPr>
          <a:xfrm rot="0">
            <a:off x="16824784" y="9555392"/>
            <a:ext cx="1463216" cy="146321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5482124" y="7343645"/>
            <a:ext cx="1463216" cy="146321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-434516" y="-434516"/>
            <a:ext cx="1463216" cy="146321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-434516" y="9258300"/>
            <a:ext cx="1463216" cy="146321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16977184" y="9707792"/>
            <a:ext cx="1463216" cy="146321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8041145" y="8075253"/>
            <a:ext cx="1463216" cy="1463216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12458989" y="-731608"/>
            <a:ext cx="1463216" cy="146321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17556392" y="3003062"/>
            <a:ext cx="1463216" cy="1463216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15056411" y="5880428"/>
            <a:ext cx="1463216" cy="1463216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89958" y="-378388"/>
            <a:ext cx="7525361" cy="3734670"/>
          </a:xfrm>
          <a:custGeom>
            <a:avLst/>
            <a:gdLst/>
            <a:ahLst/>
            <a:cxnLst/>
            <a:rect l="l" t="t" r="r" b="b"/>
            <a:pathLst>
              <a:path w="7525361" h="3734670">
                <a:moveTo>
                  <a:pt x="0" y="0"/>
                </a:moveTo>
                <a:lnTo>
                  <a:pt x="7525361" y="0"/>
                </a:lnTo>
                <a:lnTo>
                  <a:pt x="7525361" y="3734671"/>
                </a:lnTo>
                <a:lnTo>
                  <a:pt x="0" y="373467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33803" y="1293140"/>
            <a:ext cx="7425121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Pașii în Gns3</a:t>
            </a:r>
            <a:endParaRPr lang="en-US" sz="900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5801118" y="4179333"/>
            <a:ext cx="1463216" cy="146321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2306589" y="6562289"/>
            <a:ext cx="1463216" cy="1463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33803" y="3318183"/>
            <a:ext cx="13328509" cy="5142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505" spc="1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Rutare statică și dinamică: Am folosit atât rutare statică, în special pentru legătura către ISP, cât și rutare dinamică, pentru a asigura o comunicare eficientă și automată între routerele R1, R2 și R3.</a:t>
            </a:r>
            <a:endParaRPr lang="en-US" sz="2505" spc="1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380"/>
              </a:lnSpc>
            </a:pPr>
          </a:p>
          <a:p>
            <a:pPr algn="l">
              <a:lnSpc>
                <a:spcPts val="3380"/>
              </a:lnSpc>
            </a:pPr>
            <a:r>
              <a:rPr lang="en-US" sz="2505" spc="1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</a:t>
            </a:r>
            <a:r>
              <a:rPr lang="en-US" sz="2505" spc="1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Configurare SSH: Pentru o administrare securizată a echipamentelor, am configurat SSH. Acest lucru ne permite să ne conectăm de la PC-ul de administrare la routere și switch-uri folosind o conexiune criptată, în locul telnet-ului nesecurizat.</a:t>
            </a:r>
            <a:endParaRPr lang="en-US" sz="2505" spc="1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380"/>
              </a:lnSpc>
            </a:pPr>
          </a:p>
          <a:p>
            <a:pPr marL="0" lvl="0" indent="0" algn="l">
              <a:lnSpc>
                <a:spcPts val="3380"/>
              </a:lnSpc>
              <a:spcBef>
                <a:spcPct val="0"/>
              </a:spcBef>
            </a:pPr>
            <a:r>
              <a:rPr lang="en-US" sz="2505" spc="1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 </a:t>
            </a:r>
            <a:r>
              <a:rPr lang="en-US" sz="2505" spc="1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Configurare DHCP: Routerul R1a fost configurat ca server DHCP. Acest serviciu alocă automat adrese IP și alte informații de rețeaua PC-urilor client, simplificând administrarea rețelei.</a:t>
            </a:r>
            <a:endParaRPr lang="en-US" sz="2505" spc="1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16824784" y="9555392"/>
            <a:ext cx="1463216" cy="146321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-434516" y="-434516"/>
            <a:ext cx="1463216" cy="146321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-434516" y="9258300"/>
            <a:ext cx="1463216" cy="146321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6532726" y="9989908"/>
            <a:ext cx="1463216" cy="146321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10489958" y="-731608"/>
            <a:ext cx="1463216" cy="1463216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17556392" y="3107002"/>
            <a:ext cx="1463216" cy="146321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rcRect/>
          <a:stretch>
            <a:fillRect/>
          </a:stretch>
        </p:blipFill>
        <p:spPr>
          <a:xfrm>
            <a:off x="830188" y="1502500"/>
            <a:ext cx="16429112" cy="872796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851948" y="271125"/>
            <a:ext cx="7999053" cy="123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0"/>
              </a:lnSpc>
            </a:pPr>
            <a:r>
              <a:rPr lang="en-US" sz="794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Demo</a:t>
            </a:r>
            <a:endParaRPr lang="en-US" sz="794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14967" y="4468946"/>
            <a:ext cx="3868994" cy="3847891"/>
          </a:xfrm>
          <a:custGeom>
            <a:avLst/>
            <a:gdLst/>
            <a:ahLst/>
            <a:cxnLst/>
            <a:rect l="l" t="t" r="r" b="b"/>
            <a:pathLst>
              <a:path w="3868994" h="3847891">
                <a:moveTo>
                  <a:pt x="0" y="0"/>
                </a:moveTo>
                <a:lnTo>
                  <a:pt x="3868994" y="0"/>
                </a:lnTo>
                <a:lnTo>
                  <a:pt x="3868994" y="3847891"/>
                </a:lnTo>
                <a:lnTo>
                  <a:pt x="0" y="384789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7214967" y="2940367"/>
            <a:ext cx="3708981" cy="612256"/>
            <a:chOff x="0" y="0"/>
            <a:chExt cx="1241612" cy="2049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41612" cy="204958"/>
            </a:xfrm>
            <a:custGeom>
              <a:avLst/>
              <a:gdLst/>
              <a:ahLst/>
              <a:cxnLst/>
              <a:rect l="l" t="t" r="r" b="b"/>
              <a:pathLst>
                <a:path w="1241612" h="204958">
                  <a:moveTo>
                    <a:pt x="102479" y="0"/>
                  </a:moveTo>
                  <a:lnTo>
                    <a:pt x="1139133" y="0"/>
                  </a:lnTo>
                  <a:cubicBezTo>
                    <a:pt x="1195730" y="0"/>
                    <a:pt x="1241612" y="45881"/>
                    <a:pt x="1241612" y="102479"/>
                  </a:cubicBezTo>
                  <a:lnTo>
                    <a:pt x="1241612" y="102479"/>
                  </a:lnTo>
                  <a:cubicBezTo>
                    <a:pt x="1241612" y="159076"/>
                    <a:pt x="1195730" y="204958"/>
                    <a:pt x="1139133" y="204958"/>
                  </a:cubicBezTo>
                  <a:lnTo>
                    <a:pt x="102479" y="204958"/>
                  </a:lnTo>
                  <a:cubicBezTo>
                    <a:pt x="45881" y="204958"/>
                    <a:pt x="0" y="159076"/>
                    <a:pt x="0" y="102479"/>
                  </a:cubicBezTo>
                  <a:lnTo>
                    <a:pt x="0" y="102479"/>
                  </a:lnTo>
                  <a:cubicBezTo>
                    <a:pt x="0" y="45881"/>
                    <a:pt x="45881" y="0"/>
                    <a:pt x="10247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1241612" cy="11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81296" y="1048057"/>
            <a:ext cx="7831454" cy="161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80"/>
              </a:lnSpc>
            </a:pPr>
            <a:r>
              <a:rPr lang="en-US" sz="1163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PYTHON</a:t>
            </a:r>
            <a:endParaRPr lang="en-US" sz="1163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88315" y="7553037"/>
            <a:ext cx="4487052" cy="127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0" b="1">
                <a:solidFill>
                  <a:srgbClr val="000000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Aici avem topologia în format yaml, și avem salvate interfețele și configurările pentru fiecare device</a:t>
            </a:r>
            <a:endParaRPr lang="en-US" sz="2130" b="1">
              <a:solidFill>
                <a:srgbClr val="000000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555834" y="4719433"/>
            <a:ext cx="3739422" cy="96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0" b="1">
                <a:solidFill>
                  <a:srgbClr val="000000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Aici se alege dispozitivul de conectare și acțiunea dorită de configurare</a:t>
            </a:r>
            <a:endParaRPr lang="en-US" sz="2130" b="1">
              <a:solidFill>
                <a:srgbClr val="000000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88315" y="4260880"/>
            <a:ext cx="4487052" cy="127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0" b="1">
                <a:solidFill>
                  <a:srgbClr val="000000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Aici se găsesc funcții de automatizare, salvare config, ping, backup înainte si după modificari</a:t>
            </a:r>
            <a:endParaRPr lang="en-US" sz="2130" b="1">
              <a:solidFill>
                <a:srgbClr val="000000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88315" y="3365933"/>
            <a:ext cx="3431152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FUNCTION.PY</a:t>
            </a:r>
            <a:endParaRPr lang="en-US" sz="300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88315" y="6655782"/>
            <a:ext cx="4487052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DEVICES_DATA.YAML</a:t>
            </a:r>
            <a:endParaRPr lang="en-US" sz="300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555834" y="6655782"/>
            <a:ext cx="3302349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CONECTIVITATE</a:t>
            </a:r>
            <a:endParaRPr lang="en-US" sz="300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553362" y="3509860"/>
            <a:ext cx="1872183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MENIU.PY</a:t>
            </a:r>
            <a:endParaRPr lang="en-US" sz="300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555834" y="7509222"/>
            <a:ext cx="4144524" cy="158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0" b="1">
                <a:solidFill>
                  <a:srgbClr val="000000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Aici prin intermediul modulului netmiko se realizează conexiunea la device-uri prin ssh și execuția de comenzi</a:t>
            </a:r>
            <a:endParaRPr lang="en-US" sz="2130" b="1">
              <a:solidFill>
                <a:srgbClr val="000000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rcRect t="4156" r="15398" b="143"/>
          <a:stretch>
            <a:fillRect/>
          </a:stretch>
        </p:blipFill>
        <p:spPr>
          <a:xfrm>
            <a:off x="2702552" y="437992"/>
            <a:ext cx="14102392" cy="858976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 rot="-5400000">
            <a:off x="-2592330" y="4793726"/>
            <a:ext cx="7999053" cy="97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10"/>
              </a:lnSpc>
            </a:pPr>
            <a:r>
              <a:rPr lang="en-US" sz="624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Demo</a:t>
            </a:r>
            <a:endParaRPr lang="en-US" sz="624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-434516" y="4648291"/>
            <a:ext cx="1463216" cy="146321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7259300" y="1294295"/>
            <a:ext cx="1463216" cy="1463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17617466" y="7124395"/>
            <a:ext cx="1463216" cy="146321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297092" y="1294295"/>
            <a:ext cx="1463216" cy="146321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-434516" y="9322491"/>
            <a:ext cx="1463216" cy="146321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17416534" y="4288119"/>
            <a:ext cx="1463216" cy="146321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647520" y="1600759"/>
            <a:ext cx="9240379" cy="2266388"/>
            <a:chOff x="0" y="0"/>
            <a:chExt cx="3093293" cy="7586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93293" cy="758692"/>
            </a:xfrm>
            <a:custGeom>
              <a:avLst/>
              <a:gdLst/>
              <a:ahLst/>
              <a:cxnLst/>
              <a:rect l="l" t="t" r="r" b="b"/>
              <a:pathLst>
                <a:path w="3093293" h="758692">
                  <a:moveTo>
                    <a:pt x="41892" y="0"/>
                  </a:moveTo>
                  <a:lnTo>
                    <a:pt x="3051401" y="0"/>
                  </a:lnTo>
                  <a:cubicBezTo>
                    <a:pt x="3074537" y="0"/>
                    <a:pt x="3093293" y="18756"/>
                    <a:pt x="3093293" y="41892"/>
                  </a:cubicBezTo>
                  <a:lnTo>
                    <a:pt x="3093293" y="716800"/>
                  </a:lnTo>
                  <a:cubicBezTo>
                    <a:pt x="3093293" y="727911"/>
                    <a:pt x="3088879" y="738566"/>
                    <a:pt x="3081023" y="746422"/>
                  </a:cubicBezTo>
                  <a:cubicBezTo>
                    <a:pt x="3073167" y="754278"/>
                    <a:pt x="3062511" y="758692"/>
                    <a:pt x="3051401" y="758692"/>
                  </a:cubicBezTo>
                  <a:lnTo>
                    <a:pt x="41892" y="758692"/>
                  </a:lnTo>
                  <a:cubicBezTo>
                    <a:pt x="30781" y="758692"/>
                    <a:pt x="20126" y="754278"/>
                    <a:pt x="12270" y="746422"/>
                  </a:cubicBezTo>
                  <a:cubicBezTo>
                    <a:pt x="4414" y="738566"/>
                    <a:pt x="0" y="727911"/>
                    <a:pt x="0" y="716800"/>
                  </a:cubicBezTo>
                  <a:lnTo>
                    <a:pt x="0" y="41892"/>
                  </a:lnTo>
                  <a:cubicBezTo>
                    <a:pt x="0" y="30781"/>
                    <a:pt x="4414" y="20126"/>
                    <a:pt x="12270" y="12270"/>
                  </a:cubicBezTo>
                  <a:cubicBezTo>
                    <a:pt x="20126" y="4414"/>
                    <a:pt x="30781" y="0"/>
                    <a:pt x="41892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3093293" cy="672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7647520" y="4137367"/>
            <a:ext cx="9358596" cy="2128485"/>
            <a:chOff x="0" y="0"/>
            <a:chExt cx="3132867" cy="7125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32867" cy="712528"/>
            </a:xfrm>
            <a:custGeom>
              <a:avLst/>
              <a:gdLst/>
              <a:ahLst/>
              <a:cxnLst/>
              <a:rect l="l" t="t" r="r" b="b"/>
              <a:pathLst>
                <a:path w="3132867" h="712528">
                  <a:moveTo>
                    <a:pt x="41363" y="0"/>
                  </a:moveTo>
                  <a:lnTo>
                    <a:pt x="3091505" y="0"/>
                  </a:lnTo>
                  <a:cubicBezTo>
                    <a:pt x="3114348" y="0"/>
                    <a:pt x="3132867" y="18519"/>
                    <a:pt x="3132867" y="41363"/>
                  </a:cubicBezTo>
                  <a:lnTo>
                    <a:pt x="3132867" y="671165"/>
                  </a:lnTo>
                  <a:cubicBezTo>
                    <a:pt x="3132867" y="682135"/>
                    <a:pt x="3128509" y="692656"/>
                    <a:pt x="3120752" y="700413"/>
                  </a:cubicBezTo>
                  <a:cubicBezTo>
                    <a:pt x="3112995" y="708170"/>
                    <a:pt x="3102475" y="712528"/>
                    <a:pt x="3091505" y="712528"/>
                  </a:cubicBezTo>
                  <a:lnTo>
                    <a:pt x="41363" y="712528"/>
                  </a:lnTo>
                  <a:cubicBezTo>
                    <a:pt x="18519" y="712528"/>
                    <a:pt x="0" y="694009"/>
                    <a:pt x="0" y="671165"/>
                  </a:cubicBezTo>
                  <a:lnTo>
                    <a:pt x="0" y="41363"/>
                  </a:lnTo>
                  <a:cubicBezTo>
                    <a:pt x="0" y="18519"/>
                    <a:pt x="18519" y="0"/>
                    <a:pt x="41363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5725"/>
              <a:ext cx="3132867" cy="62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7647520" y="6675427"/>
            <a:ext cx="9240379" cy="2128485"/>
            <a:chOff x="0" y="0"/>
            <a:chExt cx="3093293" cy="7125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93293" cy="712528"/>
            </a:xfrm>
            <a:custGeom>
              <a:avLst/>
              <a:gdLst/>
              <a:ahLst/>
              <a:cxnLst/>
              <a:rect l="l" t="t" r="r" b="b"/>
              <a:pathLst>
                <a:path w="3093293" h="712528">
                  <a:moveTo>
                    <a:pt x="41892" y="0"/>
                  </a:moveTo>
                  <a:lnTo>
                    <a:pt x="3051401" y="0"/>
                  </a:lnTo>
                  <a:cubicBezTo>
                    <a:pt x="3074537" y="0"/>
                    <a:pt x="3093293" y="18756"/>
                    <a:pt x="3093293" y="41892"/>
                  </a:cubicBezTo>
                  <a:lnTo>
                    <a:pt x="3093293" y="670636"/>
                  </a:lnTo>
                  <a:cubicBezTo>
                    <a:pt x="3093293" y="681747"/>
                    <a:pt x="3088879" y="692402"/>
                    <a:pt x="3081023" y="700258"/>
                  </a:cubicBezTo>
                  <a:cubicBezTo>
                    <a:pt x="3073167" y="708114"/>
                    <a:pt x="3062511" y="712528"/>
                    <a:pt x="3051401" y="712528"/>
                  </a:cubicBezTo>
                  <a:lnTo>
                    <a:pt x="41892" y="712528"/>
                  </a:lnTo>
                  <a:cubicBezTo>
                    <a:pt x="18756" y="712528"/>
                    <a:pt x="0" y="693772"/>
                    <a:pt x="0" y="670636"/>
                  </a:cubicBezTo>
                  <a:lnTo>
                    <a:pt x="0" y="41892"/>
                  </a:lnTo>
                  <a:cubicBezTo>
                    <a:pt x="0" y="30781"/>
                    <a:pt x="4414" y="20126"/>
                    <a:pt x="12270" y="12270"/>
                  </a:cubicBezTo>
                  <a:cubicBezTo>
                    <a:pt x="20126" y="4414"/>
                    <a:pt x="30781" y="0"/>
                    <a:pt x="41892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85725"/>
              <a:ext cx="3093293" cy="62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10728235" y="2364555"/>
            <a:ext cx="0" cy="7387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10728235" y="4793152"/>
            <a:ext cx="0" cy="7387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10747285" y="7370272"/>
            <a:ext cx="0" cy="7387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831636" y="2984842"/>
            <a:ext cx="6625247" cy="1490730"/>
          </a:xfrm>
          <a:custGeom>
            <a:avLst/>
            <a:gdLst/>
            <a:ahLst/>
            <a:cxnLst/>
            <a:rect l="l" t="t" r="r" b="b"/>
            <a:pathLst>
              <a:path w="6625247" h="1490730">
                <a:moveTo>
                  <a:pt x="0" y="0"/>
                </a:moveTo>
                <a:lnTo>
                  <a:pt x="6625247" y="0"/>
                </a:lnTo>
                <a:lnTo>
                  <a:pt x="6625247" y="1490730"/>
                </a:lnTo>
                <a:lnTo>
                  <a:pt x="0" y="14907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42082" r="-25423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36278" y="5036475"/>
            <a:ext cx="6754851" cy="894004"/>
          </a:xfrm>
          <a:custGeom>
            <a:avLst/>
            <a:gdLst/>
            <a:ahLst/>
            <a:cxnLst/>
            <a:rect l="l" t="t" r="r" b="b"/>
            <a:pathLst>
              <a:path w="6754851" h="894004">
                <a:moveTo>
                  <a:pt x="0" y="0"/>
                </a:moveTo>
                <a:lnTo>
                  <a:pt x="6754850" y="0"/>
                </a:lnTo>
                <a:lnTo>
                  <a:pt x="6754850" y="894004"/>
                </a:lnTo>
                <a:lnTo>
                  <a:pt x="0" y="894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485" r="-20108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66834" y="6491382"/>
            <a:ext cx="6693738" cy="1582176"/>
          </a:xfrm>
          <a:custGeom>
            <a:avLst/>
            <a:gdLst/>
            <a:ahLst/>
            <a:cxnLst/>
            <a:rect l="l" t="t" r="r" b="b"/>
            <a:pathLst>
              <a:path w="6693738" h="1582176">
                <a:moveTo>
                  <a:pt x="0" y="0"/>
                </a:moveTo>
                <a:lnTo>
                  <a:pt x="6693738" y="0"/>
                </a:lnTo>
                <a:lnTo>
                  <a:pt x="6693738" y="1582176"/>
                </a:lnTo>
                <a:lnTo>
                  <a:pt x="0" y="1582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907" r="-17925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25555" y="1102691"/>
            <a:ext cx="6437409" cy="108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460"/>
              </a:lnSpc>
              <a:spcBef>
                <a:spcPct val="0"/>
              </a:spcBef>
            </a:pPr>
            <a:r>
              <a:rPr lang="en-US" sz="769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Linux</a:t>
            </a:r>
            <a:endParaRPr lang="en-US" sz="769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424014" y="2194267"/>
            <a:ext cx="4556394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050"/>
              </a:lnSpc>
              <a:spcBef>
                <a:spcPct val="0"/>
              </a:spcBef>
            </a:pPr>
            <a:r>
              <a:rPr lang="en-US" sz="3000" spc="48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000" u="none" spc="48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rbore de fișiere în user home</a:t>
            </a:r>
            <a:endParaRPr lang="en-US" sz="3000" u="none" spc="48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>
              <a:lnSpc>
                <a:spcPts val="4050"/>
              </a:lnSpc>
              <a:spcBef>
                <a:spcPct val="0"/>
              </a:spcBef>
            </a:pPr>
          </a:p>
        </p:txBody>
      </p:sp>
      <p:sp>
        <p:nvSpPr>
          <p:cNvPr id="19" name="TextBox 19"/>
          <p:cNvSpPr txBox="1"/>
          <p:nvPr/>
        </p:nvSpPr>
        <p:spPr>
          <a:xfrm>
            <a:off x="11424014" y="4619625"/>
            <a:ext cx="4793674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050"/>
              </a:lnSpc>
              <a:spcBef>
                <a:spcPct val="0"/>
              </a:spcBef>
            </a:pPr>
            <a:r>
              <a:rPr lang="en-US" sz="3000" spc="47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000" u="none" spc="47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onfigurarea inițială a utilizatorilor și a grupurilor</a:t>
            </a:r>
            <a:endParaRPr lang="en-US" sz="3000" u="none" spc="47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346969" y="6905280"/>
            <a:ext cx="4870719" cy="163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40"/>
              </a:lnSpc>
              <a:spcBef>
                <a:spcPct val="0"/>
              </a:spcBef>
            </a:pPr>
            <a:r>
              <a:rPr lang="en-US" sz="2400" spc="38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Creare script în bash (Verificare și unicitate, Creare de utilizatori, Managementul directoarelor și al permisiunilor </a:t>
            </a:r>
            <a:endParaRPr lang="en-US" sz="2400" spc="38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28429" y="4610100"/>
            <a:ext cx="1899291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00"/>
              </a:lnSpc>
              <a:spcBef>
                <a:spcPct val="0"/>
              </a:spcBef>
            </a:pPr>
            <a:r>
              <a:rPr lang="en-US" sz="6000" spc="96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Day 1</a:t>
            </a:r>
            <a:endParaRPr lang="en-US" sz="6000" spc="96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194355" y="7187220"/>
            <a:ext cx="2167439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00"/>
              </a:lnSpc>
              <a:spcBef>
                <a:spcPct val="0"/>
              </a:spcBef>
            </a:pPr>
            <a:r>
              <a:rPr lang="en-US" sz="6000" spc="96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Day 2</a:t>
            </a:r>
            <a:endParaRPr lang="en-US" sz="6000" spc="96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194355" y="2181503"/>
            <a:ext cx="2167439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00"/>
              </a:lnSpc>
              <a:spcBef>
                <a:spcPct val="0"/>
              </a:spcBef>
            </a:pPr>
            <a:r>
              <a:rPr lang="en-US" sz="6000" spc="96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Day 0</a:t>
            </a:r>
            <a:endParaRPr lang="en-US" sz="6000" spc="96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647520" y="9032513"/>
            <a:ext cx="987051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75"/>
              </a:lnSpc>
              <a:spcBef>
                <a:spcPct val="0"/>
              </a:spcBef>
            </a:pPr>
            <a:r>
              <a:rPr lang="en-US" sz="2500" spc="39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https://docs.google.com/document/d/1Qsk0xznbH3e53y1uL8x4zC0h6bEEmTu9foHkmMjVSMI/edit?pli=1&amp;tab=t.0</a:t>
            </a:r>
            <a:endParaRPr lang="en-US" sz="2500" spc="39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461508" y="1612493"/>
            <a:ext cx="9593109" cy="2266388"/>
            <a:chOff x="0" y="0"/>
            <a:chExt cx="3211372" cy="7586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11372" cy="758692"/>
            </a:xfrm>
            <a:custGeom>
              <a:avLst/>
              <a:gdLst/>
              <a:ahLst/>
              <a:cxnLst/>
              <a:rect l="l" t="t" r="r" b="b"/>
              <a:pathLst>
                <a:path w="3211372" h="758692">
                  <a:moveTo>
                    <a:pt x="40351" y="0"/>
                  </a:moveTo>
                  <a:lnTo>
                    <a:pt x="3171021" y="0"/>
                  </a:lnTo>
                  <a:cubicBezTo>
                    <a:pt x="3181722" y="0"/>
                    <a:pt x="3191986" y="4251"/>
                    <a:pt x="3199553" y="11819"/>
                  </a:cubicBezTo>
                  <a:cubicBezTo>
                    <a:pt x="3207121" y="19386"/>
                    <a:pt x="3211372" y="29650"/>
                    <a:pt x="3211372" y="40351"/>
                  </a:cubicBezTo>
                  <a:lnTo>
                    <a:pt x="3211372" y="718341"/>
                  </a:lnTo>
                  <a:cubicBezTo>
                    <a:pt x="3211372" y="729042"/>
                    <a:pt x="3207121" y="739306"/>
                    <a:pt x="3199553" y="746873"/>
                  </a:cubicBezTo>
                  <a:cubicBezTo>
                    <a:pt x="3191986" y="754441"/>
                    <a:pt x="3181722" y="758692"/>
                    <a:pt x="3171021" y="758692"/>
                  </a:cubicBezTo>
                  <a:lnTo>
                    <a:pt x="40351" y="758692"/>
                  </a:lnTo>
                  <a:cubicBezTo>
                    <a:pt x="29650" y="758692"/>
                    <a:pt x="19386" y="754441"/>
                    <a:pt x="11819" y="746873"/>
                  </a:cubicBezTo>
                  <a:cubicBezTo>
                    <a:pt x="4251" y="739306"/>
                    <a:pt x="0" y="729042"/>
                    <a:pt x="0" y="718341"/>
                  </a:cubicBezTo>
                  <a:lnTo>
                    <a:pt x="0" y="40351"/>
                  </a:lnTo>
                  <a:cubicBezTo>
                    <a:pt x="0" y="29650"/>
                    <a:pt x="4251" y="19386"/>
                    <a:pt x="11819" y="11819"/>
                  </a:cubicBezTo>
                  <a:cubicBezTo>
                    <a:pt x="19386" y="4251"/>
                    <a:pt x="29650" y="0"/>
                    <a:pt x="40351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3211372" cy="6729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44586" y="4288456"/>
            <a:ext cx="9593109" cy="2128485"/>
            <a:chOff x="0" y="0"/>
            <a:chExt cx="3211372" cy="7125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11372" cy="712528"/>
            </a:xfrm>
            <a:custGeom>
              <a:avLst/>
              <a:gdLst/>
              <a:ahLst/>
              <a:cxnLst/>
              <a:rect l="l" t="t" r="r" b="b"/>
              <a:pathLst>
                <a:path w="3211372" h="712528">
                  <a:moveTo>
                    <a:pt x="40351" y="0"/>
                  </a:moveTo>
                  <a:lnTo>
                    <a:pt x="3171021" y="0"/>
                  </a:lnTo>
                  <a:cubicBezTo>
                    <a:pt x="3181722" y="0"/>
                    <a:pt x="3191986" y="4251"/>
                    <a:pt x="3199553" y="11819"/>
                  </a:cubicBezTo>
                  <a:cubicBezTo>
                    <a:pt x="3207121" y="19386"/>
                    <a:pt x="3211372" y="29650"/>
                    <a:pt x="3211372" y="40351"/>
                  </a:cubicBezTo>
                  <a:lnTo>
                    <a:pt x="3211372" y="672177"/>
                  </a:lnTo>
                  <a:cubicBezTo>
                    <a:pt x="3211372" y="682878"/>
                    <a:pt x="3207121" y="693142"/>
                    <a:pt x="3199553" y="700709"/>
                  </a:cubicBezTo>
                  <a:cubicBezTo>
                    <a:pt x="3191986" y="708277"/>
                    <a:pt x="3181722" y="712528"/>
                    <a:pt x="3171021" y="712528"/>
                  </a:cubicBezTo>
                  <a:lnTo>
                    <a:pt x="40351" y="712528"/>
                  </a:lnTo>
                  <a:cubicBezTo>
                    <a:pt x="29650" y="712528"/>
                    <a:pt x="19386" y="708277"/>
                    <a:pt x="11819" y="700709"/>
                  </a:cubicBezTo>
                  <a:cubicBezTo>
                    <a:pt x="4251" y="693142"/>
                    <a:pt x="0" y="682878"/>
                    <a:pt x="0" y="672177"/>
                  </a:cubicBezTo>
                  <a:lnTo>
                    <a:pt x="0" y="40351"/>
                  </a:lnTo>
                  <a:cubicBezTo>
                    <a:pt x="0" y="29650"/>
                    <a:pt x="4251" y="19386"/>
                    <a:pt x="11819" y="11819"/>
                  </a:cubicBezTo>
                  <a:cubicBezTo>
                    <a:pt x="19386" y="4251"/>
                    <a:pt x="29650" y="0"/>
                    <a:pt x="40351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5725"/>
              <a:ext cx="3211372" cy="62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8888970" y="6782005"/>
            <a:ext cx="9165647" cy="2033642"/>
            <a:chOff x="0" y="0"/>
            <a:chExt cx="3211372" cy="7125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11372" cy="712528"/>
            </a:xfrm>
            <a:custGeom>
              <a:avLst/>
              <a:gdLst/>
              <a:ahLst/>
              <a:cxnLst/>
              <a:rect l="l" t="t" r="r" b="b"/>
              <a:pathLst>
                <a:path w="3211372" h="712528">
                  <a:moveTo>
                    <a:pt x="42233" y="0"/>
                  </a:moveTo>
                  <a:lnTo>
                    <a:pt x="3169139" y="0"/>
                  </a:lnTo>
                  <a:cubicBezTo>
                    <a:pt x="3180340" y="0"/>
                    <a:pt x="3191082" y="4450"/>
                    <a:pt x="3199002" y="12370"/>
                  </a:cubicBezTo>
                  <a:cubicBezTo>
                    <a:pt x="3206922" y="20290"/>
                    <a:pt x="3211372" y="31032"/>
                    <a:pt x="3211372" y="42233"/>
                  </a:cubicBezTo>
                  <a:lnTo>
                    <a:pt x="3211372" y="670295"/>
                  </a:lnTo>
                  <a:cubicBezTo>
                    <a:pt x="3211372" y="681496"/>
                    <a:pt x="3206922" y="692238"/>
                    <a:pt x="3199002" y="700158"/>
                  </a:cubicBezTo>
                  <a:cubicBezTo>
                    <a:pt x="3191082" y="708078"/>
                    <a:pt x="3180340" y="712528"/>
                    <a:pt x="3169139" y="712528"/>
                  </a:cubicBezTo>
                  <a:lnTo>
                    <a:pt x="42233" y="712528"/>
                  </a:lnTo>
                  <a:cubicBezTo>
                    <a:pt x="31032" y="712528"/>
                    <a:pt x="20290" y="708078"/>
                    <a:pt x="12370" y="700158"/>
                  </a:cubicBezTo>
                  <a:cubicBezTo>
                    <a:pt x="4450" y="692238"/>
                    <a:pt x="0" y="681496"/>
                    <a:pt x="0" y="670295"/>
                  </a:cubicBezTo>
                  <a:lnTo>
                    <a:pt x="0" y="42233"/>
                  </a:lnTo>
                  <a:cubicBezTo>
                    <a:pt x="0" y="31032"/>
                    <a:pt x="4450" y="20290"/>
                    <a:pt x="12370" y="12370"/>
                  </a:cubicBezTo>
                  <a:cubicBezTo>
                    <a:pt x="20290" y="4450"/>
                    <a:pt x="31032" y="0"/>
                    <a:pt x="42233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85725"/>
              <a:ext cx="3211372" cy="62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11542184" y="2332146"/>
            <a:ext cx="0" cy="7387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3706212" y="4983300"/>
            <a:ext cx="0" cy="7387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11795971" y="7445887"/>
            <a:ext cx="0" cy="7058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757156" y="2570287"/>
            <a:ext cx="7413248" cy="588457"/>
          </a:xfrm>
          <a:custGeom>
            <a:avLst/>
            <a:gdLst/>
            <a:ahLst/>
            <a:cxnLst/>
            <a:rect l="l" t="t" r="r" b="b"/>
            <a:pathLst>
              <a:path w="7413248" h="588457">
                <a:moveTo>
                  <a:pt x="0" y="0"/>
                </a:moveTo>
                <a:lnTo>
                  <a:pt x="7413248" y="0"/>
                </a:lnTo>
                <a:lnTo>
                  <a:pt x="7413248" y="588457"/>
                </a:lnTo>
                <a:lnTo>
                  <a:pt x="0" y="58845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42430" r="-6091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470742" y="4768940"/>
            <a:ext cx="7583874" cy="1051040"/>
          </a:xfrm>
          <a:custGeom>
            <a:avLst/>
            <a:gdLst/>
            <a:ahLst/>
            <a:cxnLst/>
            <a:rect l="l" t="t" r="r" b="b"/>
            <a:pathLst>
              <a:path w="7583874" h="1051040">
                <a:moveTo>
                  <a:pt x="0" y="0"/>
                </a:moveTo>
                <a:lnTo>
                  <a:pt x="7583875" y="0"/>
                </a:lnTo>
                <a:lnTo>
                  <a:pt x="7583875" y="1051040"/>
                </a:lnTo>
                <a:lnTo>
                  <a:pt x="0" y="1051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24" r="-3142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57156" y="7445887"/>
            <a:ext cx="7638388" cy="712357"/>
          </a:xfrm>
          <a:custGeom>
            <a:avLst/>
            <a:gdLst/>
            <a:ahLst/>
            <a:cxnLst/>
            <a:rect l="l" t="t" r="r" b="b"/>
            <a:pathLst>
              <a:path w="7638388" h="712357">
                <a:moveTo>
                  <a:pt x="0" y="0"/>
                </a:moveTo>
                <a:lnTo>
                  <a:pt x="7638388" y="0"/>
                </a:lnTo>
                <a:lnTo>
                  <a:pt x="7638388" y="712357"/>
                </a:lnTo>
                <a:lnTo>
                  <a:pt x="0" y="712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55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959600"/>
            <a:ext cx="6437409" cy="108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460"/>
              </a:lnSpc>
              <a:spcBef>
                <a:spcPct val="0"/>
              </a:spcBef>
            </a:pPr>
            <a:r>
              <a:rPr lang="en-US" sz="7690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Linux</a:t>
            </a:r>
            <a:endParaRPr lang="en-US" sz="7690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629607" y="9110921"/>
            <a:ext cx="16629693" cy="439756"/>
          </a:xfrm>
          <a:custGeom>
            <a:avLst/>
            <a:gdLst/>
            <a:ahLst/>
            <a:cxnLst/>
            <a:rect l="l" t="t" r="r" b="b"/>
            <a:pathLst>
              <a:path w="16629693" h="439756">
                <a:moveTo>
                  <a:pt x="0" y="0"/>
                </a:moveTo>
                <a:lnTo>
                  <a:pt x="16629693" y="0"/>
                </a:lnTo>
                <a:lnTo>
                  <a:pt x="16629693" y="439756"/>
                </a:lnTo>
                <a:lnTo>
                  <a:pt x="0" y="439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442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2028528" y="2003361"/>
            <a:ext cx="4809301" cy="1358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45"/>
              </a:lnSpc>
              <a:spcBef>
                <a:spcPct val="0"/>
              </a:spcBef>
            </a:pPr>
            <a:r>
              <a:rPr lang="en-US" sz="2700" spc="43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700" u="none" spc="43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rhivare verificare și backup de date din din directorul /var/log</a:t>
            </a:r>
            <a:endParaRPr lang="en-US" sz="2700" u="none" spc="43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211606" y="4709761"/>
            <a:ext cx="5543253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75"/>
              </a:lnSpc>
              <a:spcBef>
                <a:spcPct val="0"/>
              </a:spcBef>
            </a:pPr>
            <a:r>
              <a:rPr lang="en-US" sz="2500" spc="39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2500" u="none" spc="39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iltrarea, extracția și sortarea pentru a obține o listă unică și ordonată de nume de servicii dintr-un fișier</a:t>
            </a:r>
            <a:endParaRPr lang="en-US" sz="2500" u="none" spc="39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119713" y="6982626"/>
            <a:ext cx="5473583" cy="159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5"/>
              </a:lnSpc>
              <a:spcBef>
                <a:spcPct val="0"/>
              </a:spcBef>
            </a:pPr>
            <a:r>
              <a:rPr lang="en-US" sz="2390" spc="38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Ac</a:t>
            </a:r>
            <a:r>
              <a:rPr lang="en-US" sz="2390" u="none" spc="38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estă parte ademonstrat un ciclu complet de management al unui server Linux, acoperind patru domenii cheie </a:t>
            </a:r>
            <a:endParaRPr lang="en-US" sz="2390" u="none" spc="38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33948" y="4800249"/>
            <a:ext cx="2167439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00"/>
              </a:lnSpc>
              <a:spcBef>
                <a:spcPct val="0"/>
              </a:spcBef>
            </a:pPr>
            <a:r>
              <a:rPr lang="en-US" sz="6000" spc="96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Day 4</a:t>
            </a:r>
            <a:endParaRPr lang="en-US" sz="6000" spc="96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297384" y="7455007"/>
            <a:ext cx="2210605" cy="63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60"/>
              </a:lnSpc>
              <a:spcBef>
                <a:spcPct val="0"/>
              </a:spcBef>
            </a:pPr>
            <a:r>
              <a:rPr lang="en-US" sz="3820" spc="61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Concluzii</a:t>
            </a:r>
            <a:endParaRPr lang="en-US" sz="3820" spc="61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888970" y="2149094"/>
            <a:ext cx="2167439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00"/>
              </a:lnSpc>
              <a:spcBef>
                <a:spcPct val="0"/>
              </a:spcBef>
            </a:pPr>
            <a:r>
              <a:rPr lang="en-US" sz="6000" spc="96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Day 3</a:t>
            </a:r>
            <a:endParaRPr lang="en-US" sz="6000" spc="96">
              <a:solidFill>
                <a:srgbClr val="1C21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7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82017" y="3400598"/>
            <a:ext cx="11923966" cy="2888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sz="12025" b="1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Mulțumim pentru atenție!</a:t>
            </a:r>
            <a:endParaRPr lang="en-US" sz="12025" b="1">
              <a:solidFill>
                <a:srgbClr val="1C212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5652409" y="6483944"/>
            <a:ext cx="7056312" cy="1229861"/>
            <a:chOff x="0" y="0"/>
            <a:chExt cx="1858453" cy="3239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58453" cy="323914"/>
            </a:xfrm>
            <a:custGeom>
              <a:avLst/>
              <a:gdLst/>
              <a:ahLst/>
              <a:cxnLst/>
              <a:rect l="l" t="t" r="r" b="b"/>
              <a:pathLst>
                <a:path w="1858453" h="323914">
                  <a:moveTo>
                    <a:pt x="0" y="0"/>
                  </a:moveTo>
                  <a:lnTo>
                    <a:pt x="1858453" y="0"/>
                  </a:lnTo>
                  <a:lnTo>
                    <a:pt x="1858453" y="323914"/>
                  </a:lnTo>
                  <a:lnTo>
                    <a:pt x="0" y="323914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58453" cy="3620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871583" y="6708350"/>
            <a:ext cx="6617965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-60">
                <a:solidFill>
                  <a:srgbClr val="1C212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PRESENTED BY SALAHORII PACHET TREISER</a:t>
            </a:r>
            <a:endParaRPr lang="en-US" sz="3000" spc="-60">
              <a:solidFill>
                <a:srgbClr val="1C212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2178695" y="1298126"/>
            <a:ext cx="1463216" cy="14632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3641912" y="7301028"/>
            <a:ext cx="1463216" cy="146321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15105983" y="297092"/>
            <a:ext cx="1463216" cy="146321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5592234" y="8764245"/>
            <a:ext cx="1463216" cy="146321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9546715" y="-731608"/>
            <a:ext cx="1463216" cy="146321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9814863" y="9958131"/>
            <a:ext cx="1463216" cy="146321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-434516" y="4826273"/>
            <a:ext cx="1463216" cy="1463216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16824784" y="3980086"/>
            <a:ext cx="1463216" cy="146321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2914</Words>
  <Application>WPS Presentation</Application>
  <PresentationFormat>On-screen Show (4:3)</PresentationFormat>
  <Paragraphs>119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Poppins Semi-Bold</vt:lpstr>
      <vt:lpstr>Poppins</vt:lpstr>
      <vt:lpstr>Poppins Bold</vt:lpstr>
      <vt:lpstr>DM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s.w.o.t</dc:title>
  <dc:creator/>
  <cp:lastModifiedBy>aleee2018</cp:lastModifiedBy>
  <cp:revision>2</cp:revision>
  <dcterms:created xsi:type="dcterms:W3CDTF">2006-08-16T00:00:00Z</dcterms:created>
  <dcterms:modified xsi:type="dcterms:W3CDTF">2025-08-28T19:28:11Z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5D92E87E1A534FD88A2E24C14EF304B6_12</vt:lpwstr>
  </property>
  <property fmtid="{D5CDD505-2E9C-101B-9397-08002B2CF9AE}" pid="3" name="KSOProductBuildVer">
    <vt:lpwstr>1033-12.2.0.21931</vt:lpwstr>
  </property>
</Properties>
</file>